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342" r:id="rId5"/>
    <p:sldId id="359" r:id="rId6"/>
    <p:sldId id="375" r:id="rId7"/>
    <p:sldId id="373" r:id="rId8"/>
    <p:sldId id="382" r:id="rId9"/>
    <p:sldId id="384" r:id="rId10"/>
    <p:sldId id="389" r:id="rId11"/>
    <p:sldId id="383" r:id="rId12"/>
    <p:sldId id="386" r:id="rId13"/>
    <p:sldId id="387" r:id="rId14"/>
    <p:sldId id="390" r:id="rId15"/>
    <p:sldId id="3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3FBFE"/>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showGuides="1">
      <p:cViewPr varScale="1">
        <p:scale>
          <a:sx n="78" d="100"/>
          <a:sy n="78" d="100"/>
        </p:scale>
        <p:origin x="878"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10/26/2025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10/26/2025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2982522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EC2F5-475C-AC20-5FB6-A31EB71DE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C37F8-8374-BF11-86B7-C0456EDB7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C0B3D-E8E3-9D6B-EE71-47161CFBE9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C682C5-3B0C-CF02-D9EC-47400073CE0A}"/>
              </a:ext>
            </a:extLst>
          </p:cNvPr>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247822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F5C35-23A4-7AA0-92CC-E938F1803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AF93F-F2CE-7A9D-4A5B-FDCC893C1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B0A7F-8099-6DBB-9166-185B16A79C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F51231-972D-4413-4B16-AE07368A9C95}"/>
              </a:ext>
            </a:extLst>
          </p:cNvPr>
          <p:cNvSpPr>
            <a:spLocks noGrp="1"/>
          </p:cNvSpPr>
          <p:nvPr>
            <p:ph type="sldNum" sz="quarter" idx="5"/>
          </p:nvPr>
        </p:nvSpPr>
        <p:spPr/>
        <p:txBody>
          <a:bodyPr/>
          <a:lstStyle/>
          <a:p>
            <a:fld id="{DEF75CB5-5666-5049-9AE0-38EFD385C21E}" type="slidenum">
              <a:rPr lang="en-US" smtClean="0"/>
              <a:t>6</a:t>
            </a:fld>
            <a:endParaRPr lang="en-US" dirty="0"/>
          </a:p>
        </p:txBody>
      </p:sp>
    </p:spTree>
    <p:extLst>
      <p:ext uri="{BB962C8B-B14F-4D97-AF65-F5344CB8AC3E}">
        <p14:creationId xmlns:p14="http://schemas.microsoft.com/office/powerpoint/2010/main" val="1910005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B7E09-6CBF-FCAF-CB05-832F863F2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AE214-4C44-FFC2-5365-C787FD19C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DD2B8-77DB-FC53-38CE-8AF0A459BB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111E07-788B-CDCA-9FBD-96339DECE858}"/>
              </a:ext>
            </a:extLst>
          </p:cNvPr>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3785537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CEC0A-F1F0-7C7C-C08F-C8748C772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7A61B-CA4C-E940-CEAA-51D4B5D43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0AFCE-5EFC-6532-6466-ABC2270DE5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E6B308-48D2-B86F-8A55-D9570A86722D}"/>
              </a:ext>
            </a:extLst>
          </p:cNvPr>
          <p:cNvSpPr>
            <a:spLocks noGrp="1"/>
          </p:cNvSpPr>
          <p:nvPr>
            <p:ph type="sldNum" sz="quarter" idx="5"/>
          </p:nvPr>
        </p:nvSpPr>
        <p:spPr/>
        <p:txBody>
          <a:bodyPr/>
          <a:lstStyle/>
          <a:p>
            <a:fld id="{DEF75CB5-5666-5049-9AE0-38EFD385C21E}" type="slidenum">
              <a:rPr lang="en-US" smtClean="0"/>
              <a:t>8</a:t>
            </a:fld>
            <a:endParaRPr lang="en-US" dirty="0"/>
          </a:p>
        </p:txBody>
      </p:sp>
    </p:spTree>
    <p:extLst>
      <p:ext uri="{BB962C8B-B14F-4D97-AF65-F5344CB8AC3E}">
        <p14:creationId xmlns:p14="http://schemas.microsoft.com/office/powerpoint/2010/main" val="3750688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553E0-2E68-492B-9106-CC4FD1044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71C52-29D3-6E79-83CC-3224B7D37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3D447F-A30D-A07D-9236-6885AD87E9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43B47D-1688-B590-CC4E-5DFC00CED1AD}"/>
              </a:ext>
            </a:extLst>
          </p:cNvPr>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2731095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7AA15-A598-978E-9DE3-629284598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7756B-08CD-DEBE-BEA9-57E103AC5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D413C3-9270-6E2C-2733-FE1143AE87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AF3388-DD80-82C9-3663-16C13C868F2B}"/>
              </a:ext>
            </a:extLst>
          </p:cNvPr>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1666189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12FF-6646-D72F-02F7-DC45D52CF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CFBF1-CEE1-6DCF-D8FF-BAD60E0E9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4B003-DDFD-A16E-DEF1-2E75C07E7D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B92775-CBC8-AAF5-842C-9D05EA6D755E}"/>
              </a:ext>
            </a:extLst>
          </p:cNvPr>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619336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4167890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304799"/>
            <a:ext cx="12191998" cy="3215641"/>
          </a:xfrm>
        </p:spPr>
        <p:txBody>
          <a:bodyPr anchor="b"/>
          <a:lstStyle/>
          <a:p>
            <a:r>
              <a:rPr lang="en-US" dirty="0"/>
              <a:t>world</a:t>
            </a: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3" y="3670628"/>
            <a:ext cx="12191997" cy="2577772"/>
          </a:xfrm>
        </p:spPr>
        <p:txBody>
          <a:bodyPr/>
          <a:lstStyle/>
          <a:p>
            <a:r>
              <a:rPr lang="en-US" dirty="0"/>
              <a:t>Population</a:t>
            </a:r>
          </a:p>
        </p:txBody>
      </p: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838201" y="365125"/>
            <a:ext cx="4466502" cy="1936866"/>
          </a:xfrm>
        </p:spPr>
        <p:txBody>
          <a:bodyPr/>
          <a:lstStyle/>
          <a:p>
            <a:r>
              <a:rPr lang="en-US" dirty="0"/>
              <a:t>Agenda</a:t>
            </a:r>
          </a:p>
        </p:txBody>
      </p:sp>
      <p:sp>
        <p:nvSpPr>
          <p:cNvPr id="31" name="Text Placeholder 3">
            <a:extLst>
              <a:ext uri="{FF2B5EF4-FFF2-40B4-BE49-F238E27FC236}">
                <a16:creationId xmlns:a16="http://schemas.microsoft.com/office/drawing/2014/main" id="{F1239C0E-3F39-787D-0FC3-6B7C9BA37E8F}"/>
              </a:ext>
            </a:extLst>
          </p:cNvPr>
          <p:cNvSpPr>
            <a:spLocks noGrp="1"/>
          </p:cNvSpPr>
          <p:nvPr>
            <p:ph sz="quarter" idx="10"/>
          </p:nvPr>
        </p:nvSpPr>
        <p:spPr>
          <a:xfrm>
            <a:off x="838201" y="3097848"/>
            <a:ext cx="4466504" cy="3405187"/>
          </a:xfrm>
        </p:spPr>
        <p:txBody>
          <a:bodyPr anchor="t"/>
          <a:lstStyle/>
          <a:p>
            <a:r>
              <a:rPr lang="en-US" dirty="0"/>
              <a:t>Dataset info</a:t>
            </a:r>
          </a:p>
          <a:p>
            <a:r>
              <a:rPr lang="en-US" dirty="0"/>
              <a:t>Power BI</a:t>
            </a:r>
          </a:p>
          <a:p>
            <a:r>
              <a:rPr lang="en-US" dirty="0"/>
              <a:t>Analysis</a:t>
            </a:r>
          </a:p>
          <a:p>
            <a:r>
              <a:rPr lang="en-US" dirty="0"/>
              <a:t>Modeling</a:t>
            </a:r>
          </a:p>
          <a:p>
            <a:r>
              <a:rPr lang="en-US" dirty="0"/>
              <a:t>Results</a:t>
            </a:r>
          </a:p>
        </p:txBody>
      </p:sp>
    </p:spTree>
    <p:extLst>
      <p:ext uri="{BB962C8B-B14F-4D97-AF65-F5344CB8AC3E}">
        <p14:creationId xmlns:p14="http://schemas.microsoft.com/office/powerpoint/2010/main" val="146015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0903-003B-273E-3584-5312F76C3EF3}"/>
              </a:ext>
            </a:extLst>
          </p:cNvPr>
          <p:cNvSpPr>
            <a:spLocks noGrp="1"/>
          </p:cNvSpPr>
          <p:nvPr>
            <p:ph type="title"/>
          </p:nvPr>
        </p:nvSpPr>
        <p:spPr>
          <a:xfrm>
            <a:off x="3305669" y="113097"/>
            <a:ext cx="7420819" cy="1656304"/>
          </a:xfrm>
        </p:spPr>
        <p:txBody>
          <a:bodyPr/>
          <a:lstStyle/>
          <a:p>
            <a:r>
              <a:rPr lang="en-US" dirty="0"/>
              <a:t>Dataset information</a:t>
            </a:r>
          </a:p>
        </p:txBody>
      </p:sp>
      <p:sp>
        <p:nvSpPr>
          <p:cNvPr id="4" name="Content Placeholder 3">
            <a:extLst>
              <a:ext uri="{FF2B5EF4-FFF2-40B4-BE49-F238E27FC236}">
                <a16:creationId xmlns:a16="http://schemas.microsoft.com/office/drawing/2014/main" id="{74160DFF-2E7E-7A22-819A-C011020DFF01}"/>
              </a:ext>
            </a:extLst>
          </p:cNvPr>
          <p:cNvSpPr>
            <a:spLocks noGrp="1"/>
          </p:cNvSpPr>
          <p:nvPr>
            <p:ph sz="quarter" idx="31"/>
          </p:nvPr>
        </p:nvSpPr>
        <p:spPr>
          <a:xfrm>
            <a:off x="3305669" y="2470150"/>
            <a:ext cx="7420819" cy="3676649"/>
          </a:xfrm>
        </p:spPr>
        <p:txBody>
          <a:bodyPr/>
          <a:lstStyle/>
          <a:p>
            <a:pPr marL="0" indent="0">
              <a:buNone/>
            </a:pPr>
            <a:r>
              <a:rPr lang="en-US" dirty="0"/>
              <a:t>This dataset contains </a:t>
            </a:r>
            <a:r>
              <a:rPr lang="en-US" b="1" dirty="0"/>
              <a:t>historical and current world population data</a:t>
            </a:r>
            <a:r>
              <a:rPr lang="en-US" dirty="0"/>
              <a:t> for each country from 1970 to 2022.</a:t>
            </a:r>
            <a:br>
              <a:rPr lang="en-US" dirty="0"/>
            </a:br>
            <a:r>
              <a:rPr lang="en-US" dirty="0"/>
              <a:t>it contains:</a:t>
            </a:r>
          </a:p>
          <a:p>
            <a:pPr>
              <a:lnSpc>
                <a:spcPct val="100000"/>
              </a:lnSpc>
            </a:pPr>
            <a:r>
              <a:rPr lang="en-US" dirty="0"/>
              <a:t>Population by year</a:t>
            </a:r>
          </a:p>
          <a:p>
            <a:pPr>
              <a:lnSpc>
                <a:spcPct val="100000"/>
              </a:lnSpc>
            </a:pPr>
            <a:r>
              <a:rPr lang="en-US" dirty="0"/>
              <a:t>Continent and area (km²)</a:t>
            </a:r>
          </a:p>
          <a:p>
            <a:pPr>
              <a:lnSpc>
                <a:spcPct val="100000"/>
              </a:lnSpc>
            </a:pPr>
            <a:r>
              <a:rPr lang="en-US" dirty="0"/>
              <a:t>Population density</a:t>
            </a:r>
          </a:p>
          <a:p>
            <a:pPr>
              <a:lnSpc>
                <a:spcPct val="100000"/>
              </a:lnSpc>
            </a:pPr>
            <a:r>
              <a:rPr lang="en-US" dirty="0"/>
              <a:t>Growth rate</a:t>
            </a:r>
          </a:p>
          <a:p>
            <a:pPr>
              <a:lnSpc>
                <a:spcPct val="100000"/>
              </a:lnSpc>
            </a:pPr>
            <a:r>
              <a:rPr lang="en-US" dirty="0"/>
              <a:t>Percentage of world population</a:t>
            </a:r>
          </a:p>
        </p:txBody>
      </p:sp>
      <p:sp>
        <p:nvSpPr>
          <p:cNvPr id="3" name="Slide Number Placeholder 2">
            <a:extLst>
              <a:ext uri="{FF2B5EF4-FFF2-40B4-BE49-F238E27FC236}">
                <a16:creationId xmlns:a16="http://schemas.microsoft.com/office/drawing/2014/main" id="{64347AE7-D6A2-42FB-3D58-6297742FC352}"/>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3</a:t>
            </a:fld>
            <a:endParaRPr lang="en-US" dirty="0"/>
          </a:p>
        </p:txBody>
      </p:sp>
    </p:spTree>
    <p:extLst>
      <p:ext uri="{BB962C8B-B14F-4D97-AF65-F5344CB8AC3E}">
        <p14:creationId xmlns:p14="http://schemas.microsoft.com/office/powerpoint/2010/main" val="196263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260D053B-A40A-3228-B6D5-3371B9EE2E56}"/>
              </a:ext>
            </a:extLst>
          </p:cNvPr>
          <p:cNvSpPr>
            <a:spLocks noGrp="1"/>
          </p:cNvSpPr>
          <p:nvPr>
            <p:ph type="subTitle" idx="1"/>
          </p:nvPr>
        </p:nvSpPr>
        <p:spPr>
          <a:xfrm>
            <a:off x="321868" y="2871019"/>
            <a:ext cx="11562303" cy="3001461"/>
          </a:xfrm>
        </p:spPr>
        <p:txBody>
          <a:bodyPr/>
          <a:lstStyle/>
          <a:p>
            <a:r>
              <a:rPr lang="en-US" dirty="0"/>
              <a:t>Power bi</a:t>
            </a:r>
          </a:p>
        </p:txBody>
      </p:sp>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4</a:t>
            </a:fld>
            <a:endParaRPr lang="en-US" dirty="0"/>
          </a:p>
        </p:txBody>
      </p:sp>
    </p:spTree>
    <p:extLst>
      <p:ext uri="{BB962C8B-B14F-4D97-AF65-F5344CB8AC3E}">
        <p14:creationId xmlns:p14="http://schemas.microsoft.com/office/powerpoint/2010/main" val="1397193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AE90-6E6F-FAA2-405F-1301F5791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B3781-31D4-9ADF-0216-9F9CB6E04C88}"/>
              </a:ext>
            </a:extLst>
          </p:cNvPr>
          <p:cNvSpPr>
            <a:spLocks noGrp="1"/>
          </p:cNvSpPr>
          <p:nvPr>
            <p:ph type="title"/>
          </p:nvPr>
        </p:nvSpPr>
        <p:spPr>
          <a:xfrm>
            <a:off x="3305669" y="113097"/>
            <a:ext cx="7420819" cy="1656304"/>
          </a:xfrm>
        </p:spPr>
        <p:txBody>
          <a:bodyPr/>
          <a:lstStyle/>
          <a:p>
            <a:r>
              <a:rPr lang="en-US" dirty="0" err="1"/>
              <a:t>Techquices</a:t>
            </a:r>
            <a:r>
              <a:rPr lang="en-US" dirty="0"/>
              <a:t> </a:t>
            </a:r>
          </a:p>
        </p:txBody>
      </p:sp>
      <p:sp>
        <p:nvSpPr>
          <p:cNvPr id="3" name="Slide Number Placeholder 2">
            <a:extLst>
              <a:ext uri="{FF2B5EF4-FFF2-40B4-BE49-F238E27FC236}">
                <a16:creationId xmlns:a16="http://schemas.microsoft.com/office/drawing/2014/main" id="{C64A26FB-3AB0-5843-F006-13C8BF7FAE4C}"/>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5</a:t>
            </a:fld>
            <a:endParaRPr lang="en-US" dirty="0"/>
          </a:p>
        </p:txBody>
      </p:sp>
      <p:sp>
        <p:nvSpPr>
          <p:cNvPr id="5" name="Rectangle 1">
            <a:extLst>
              <a:ext uri="{FF2B5EF4-FFF2-40B4-BE49-F238E27FC236}">
                <a16:creationId xmlns:a16="http://schemas.microsoft.com/office/drawing/2014/main" id="{E6D90408-E206-64A4-6EF7-74099CEFA2EF}"/>
              </a:ext>
            </a:extLst>
          </p:cNvPr>
          <p:cNvSpPr>
            <a:spLocks noGrp="1" noChangeArrowheads="1"/>
          </p:cNvSpPr>
          <p:nvPr>
            <p:ph sz="quarter" idx="31"/>
          </p:nvPr>
        </p:nvSpPr>
        <p:spPr bwMode="auto">
          <a:xfrm>
            <a:off x="3305669" y="2197381"/>
            <a:ext cx="8032955" cy="246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Data Cleaning.</a:t>
            </a:r>
          </a:p>
          <a:p>
            <a:r>
              <a:rPr lang="en-US" dirty="0"/>
              <a:t>Converted year columns into a single “Year” column and a corresponding “Population” column.</a:t>
            </a:r>
          </a:p>
          <a:p>
            <a:r>
              <a:rPr lang="en-US" dirty="0"/>
              <a:t>Handled missing values.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53732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0E7E-779E-BF08-F209-1E5562B14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A679A-0695-0E35-E4D1-72CE904C7858}"/>
              </a:ext>
            </a:extLst>
          </p:cNvPr>
          <p:cNvSpPr>
            <a:spLocks noGrp="1"/>
          </p:cNvSpPr>
          <p:nvPr>
            <p:ph type="title"/>
          </p:nvPr>
        </p:nvSpPr>
        <p:spPr>
          <a:xfrm>
            <a:off x="733562" y="433906"/>
            <a:ext cx="10515601" cy="1327464"/>
          </a:xfrm>
        </p:spPr>
        <p:txBody>
          <a:bodyPr anchor="b">
            <a:normAutofit/>
          </a:bodyPr>
          <a:lstStyle/>
          <a:p>
            <a:r>
              <a:rPr lang="en-US" dirty="0"/>
              <a:t>Insights</a:t>
            </a:r>
          </a:p>
        </p:txBody>
      </p:sp>
      <p:pic>
        <p:nvPicPr>
          <p:cNvPr id="5" name="Picture 4">
            <a:extLst>
              <a:ext uri="{FF2B5EF4-FFF2-40B4-BE49-F238E27FC236}">
                <a16:creationId xmlns:a16="http://schemas.microsoft.com/office/drawing/2014/main" id="{5AE7992F-CC08-B3CF-5EC3-F5FF4A7B4207}"/>
              </a:ext>
            </a:extLst>
          </p:cNvPr>
          <p:cNvPicPr>
            <a:picLocks noChangeAspect="1"/>
          </p:cNvPicPr>
          <p:nvPr/>
        </p:nvPicPr>
        <p:blipFill>
          <a:blip r:embed="rId3"/>
          <a:stretch>
            <a:fillRect/>
          </a:stretch>
        </p:blipFill>
        <p:spPr>
          <a:xfrm>
            <a:off x="1908410" y="2465535"/>
            <a:ext cx="5115321" cy="3427265"/>
          </a:xfrm>
          <a:prstGeom prst="rect">
            <a:avLst/>
          </a:prstGeom>
          <a:noFill/>
        </p:spPr>
      </p:pic>
      <p:sp>
        <p:nvSpPr>
          <p:cNvPr id="7" name="Rectangle 3">
            <a:extLst>
              <a:ext uri="{FF2B5EF4-FFF2-40B4-BE49-F238E27FC236}">
                <a16:creationId xmlns:a16="http://schemas.microsoft.com/office/drawing/2014/main" id="{4E9D9422-8AC5-BCDC-A1E6-3EA63D6E766D}"/>
              </a:ext>
            </a:extLst>
          </p:cNvPr>
          <p:cNvSpPr>
            <a:spLocks noGrp="1" noChangeArrowheads="1"/>
          </p:cNvSpPr>
          <p:nvPr>
            <p:ph sz="quarter" idx="37"/>
          </p:nvPr>
        </p:nvSpPr>
        <p:spPr bwMode="auto">
          <a:xfrm>
            <a:off x="8392160" y="2465388"/>
            <a:ext cx="2856865" cy="342741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US" dirty="0"/>
              <a:t>The countries with the highest population density are not the same as those with the highest population in each continent.</a:t>
            </a:r>
          </a:p>
          <a:p>
            <a:endParaRPr lang="en-US" dirty="0"/>
          </a:p>
          <a:p>
            <a:r>
              <a:rPr lang="en-US" dirty="0"/>
              <a:t>Example: Asia</a:t>
            </a:r>
          </a:p>
        </p:txBody>
      </p:sp>
      <p:sp>
        <p:nvSpPr>
          <p:cNvPr id="3" name="Slide Number Placeholder 2">
            <a:extLst>
              <a:ext uri="{FF2B5EF4-FFF2-40B4-BE49-F238E27FC236}">
                <a16:creationId xmlns:a16="http://schemas.microsoft.com/office/drawing/2014/main" id="{6A2CC375-E54E-6905-5AD1-300CC131E072}"/>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6</a:t>
            </a:fld>
            <a:endParaRPr lang="en-US"/>
          </a:p>
        </p:txBody>
      </p:sp>
    </p:spTree>
    <p:extLst>
      <p:ext uri="{BB962C8B-B14F-4D97-AF65-F5344CB8AC3E}">
        <p14:creationId xmlns:p14="http://schemas.microsoft.com/office/powerpoint/2010/main" val="3953172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DC764-1AAE-C001-B655-7C7F55C26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2D89A-532F-21C0-A1D5-F9A4F99DBA55}"/>
              </a:ext>
            </a:extLst>
          </p:cNvPr>
          <p:cNvSpPr>
            <a:spLocks noGrp="1"/>
          </p:cNvSpPr>
          <p:nvPr>
            <p:ph type="title"/>
          </p:nvPr>
        </p:nvSpPr>
        <p:spPr>
          <a:xfrm>
            <a:off x="741680" y="430482"/>
            <a:ext cx="10500989" cy="1327464"/>
          </a:xfrm>
        </p:spPr>
        <p:txBody>
          <a:bodyPr anchor="b">
            <a:normAutofit/>
          </a:bodyPr>
          <a:lstStyle/>
          <a:p>
            <a:r>
              <a:rPr lang="en-US" dirty="0"/>
              <a:t>Insights</a:t>
            </a:r>
          </a:p>
        </p:txBody>
      </p:sp>
      <p:sp>
        <p:nvSpPr>
          <p:cNvPr id="7" name="Rectangle 3">
            <a:extLst>
              <a:ext uri="{FF2B5EF4-FFF2-40B4-BE49-F238E27FC236}">
                <a16:creationId xmlns:a16="http://schemas.microsoft.com/office/drawing/2014/main" id="{8AFC16E0-B114-F3D5-EB3E-6C32549D5E90}"/>
              </a:ext>
            </a:extLst>
          </p:cNvPr>
          <p:cNvSpPr>
            <a:spLocks noGrp="1" noChangeArrowheads="1"/>
          </p:cNvSpPr>
          <p:nvPr>
            <p:ph sz="quarter" idx="35"/>
          </p:nvPr>
        </p:nvSpPr>
        <p:spPr bwMode="auto">
          <a:xfrm>
            <a:off x="807039" y="2465539"/>
            <a:ext cx="3017710" cy="372375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lvl="0" indent="0" eaLnBrk="0" fontAlgn="base" hangingPunct="0">
              <a:spcBef>
                <a:spcPct val="0"/>
              </a:spcBef>
              <a:spcAft>
                <a:spcPts val="600"/>
              </a:spcAft>
              <a:buClrTx/>
              <a:buNone/>
            </a:pPr>
            <a:r>
              <a:rPr lang="en-US" dirty="0"/>
              <a:t>Population growth over the years in each continent.</a:t>
            </a:r>
          </a:p>
          <a:p>
            <a:pPr marL="0" lvl="0" indent="0" eaLnBrk="0" fontAlgn="base" hangingPunct="0">
              <a:spcBef>
                <a:spcPct val="0"/>
              </a:spcBef>
              <a:spcAft>
                <a:spcPts val="600"/>
              </a:spcAft>
              <a:buClrTx/>
              <a:buNone/>
            </a:pPr>
            <a:br>
              <a:rPr lang="en-US" dirty="0"/>
            </a:br>
            <a:r>
              <a:rPr lang="en-US" dirty="0"/>
              <a:t>Example: Africa</a:t>
            </a:r>
            <a:endParaRPr kumimoji="0" lang="en-US" altLang="en-US" i="0" u="none" strike="noStrike" cap="none" normalizeH="0" baseline="0" dirty="0">
              <a:ln>
                <a:noFill/>
              </a:ln>
              <a:effectLst/>
            </a:endParaRPr>
          </a:p>
        </p:txBody>
      </p:sp>
      <p:pic>
        <p:nvPicPr>
          <p:cNvPr id="6" name="Picture 5">
            <a:extLst>
              <a:ext uri="{FF2B5EF4-FFF2-40B4-BE49-F238E27FC236}">
                <a16:creationId xmlns:a16="http://schemas.microsoft.com/office/drawing/2014/main" id="{C4433E7D-B83D-1F51-E006-4FA734A091F3}"/>
              </a:ext>
            </a:extLst>
          </p:cNvPr>
          <p:cNvPicPr>
            <a:picLocks noChangeAspect="1"/>
          </p:cNvPicPr>
          <p:nvPr/>
        </p:nvPicPr>
        <p:blipFill>
          <a:blip r:embed="rId3"/>
          <a:stretch>
            <a:fillRect/>
          </a:stretch>
        </p:blipFill>
        <p:spPr>
          <a:xfrm>
            <a:off x="3983576" y="2994409"/>
            <a:ext cx="7259094" cy="2359205"/>
          </a:xfrm>
          <a:prstGeom prst="rect">
            <a:avLst/>
          </a:prstGeom>
          <a:noFill/>
        </p:spPr>
      </p:pic>
      <p:sp>
        <p:nvSpPr>
          <p:cNvPr id="3" name="Slide Number Placeholder 2">
            <a:extLst>
              <a:ext uri="{FF2B5EF4-FFF2-40B4-BE49-F238E27FC236}">
                <a16:creationId xmlns:a16="http://schemas.microsoft.com/office/drawing/2014/main" id="{AD63E830-E02D-F579-DCE4-CE6B01C268DF}"/>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7</a:t>
            </a:fld>
            <a:endParaRPr lang="en-US"/>
          </a:p>
        </p:txBody>
      </p:sp>
    </p:spTree>
    <p:extLst>
      <p:ext uri="{BB962C8B-B14F-4D97-AF65-F5344CB8AC3E}">
        <p14:creationId xmlns:p14="http://schemas.microsoft.com/office/powerpoint/2010/main" val="2404729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FE97-6D4B-DE9E-271F-292869AB850B}"/>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668BF59C-C370-96C3-15EA-E1A1BFA410BA}"/>
              </a:ext>
            </a:extLst>
          </p:cNvPr>
          <p:cNvSpPr>
            <a:spLocks noGrp="1"/>
          </p:cNvSpPr>
          <p:nvPr>
            <p:ph type="subTitle" idx="1"/>
          </p:nvPr>
        </p:nvSpPr>
        <p:spPr>
          <a:xfrm>
            <a:off x="321868" y="2871019"/>
            <a:ext cx="11562303" cy="3001461"/>
          </a:xfrm>
        </p:spPr>
        <p:txBody>
          <a:bodyPr/>
          <a:lstStyle/>
          <a:p>
            <a:r>
              <a:rPr lang="en-US" dirty="0"/>
              <a:t>Analysis &amp; Modeling</a:t>
            </a:r>
          </a:p>
        </p:txBody>
      </p:sp>
      <p:sp>
        <p:nvSpPr>
          <p:cNvPr id="3" name="Slide Number Placeholder 2">
            <a:extLst>
              <a:ext uri="{FF2B5EF4-FFF2-40B4-BE49-F238E27FC236}">
                <a16:creationId xmlns:a16="http://schemas.microsoft.com/office/drawing/2014/main" id="{A5862892-0743-9A9B-AAF6-7224B665C9C3}"/>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8</a:t>
            </a:fld>
            <a:endParaRPr lang="en-US" dirty="0"/>
          </a:p>
        </p:txBody>
      </p:sp>
    </p:spTree>
    <p:extLst>
      <p:ext uri="{BB962C8B-B14F-4D97-AF65-F5344CB8AC3E}">
        <p14:creationId xmlns:p14="http://schemas.microsoft.com/office/powerpoint/2010/main" val="374589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51F52-E552-768D-E830-2D7EE9277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759FD-559C-812E-8A15-EEF8C5C78D07}"/>
              </a:ext>
            </a:extLst>
          </p:cNvPr>
          <p:cNvSpPr>
            <a:spLocks noGrp="1"/>
          </p:cNvSpPr>
          <p:nvPr>
            <p:ph type="title"/>
          </p:nvPr>
        </p:nvSpPr>
        <p:spPr>
          <a:xfrm>
            <a:off x="741680" y="430482"/>
            <a:ext cx="10500989" cy="1327464"/>
          </a:xfrm>
        </p:spPr>
        <p:txBody>
          <a:bodyPr anchor="b">
            <a:normAutofit/>
          </a:bodyPr>
          <a:lstStyle/>
          <a:p>
            <a:r>
              <a:rPr lang="en-US" dirty="0"/>
              <a:t>Analysis Insights</a:t>
            </a:r>
          </a:p>
        </p:txBody>
      </p:sp>
      <p:sp>
        <p:nvSpPr>
          <p:cNvPr id="5" name="Rectangle 1">
            <a:extLst>
              <a:ext uri="{FF2B5EF4-FFF2-40B4-BE49-F238E27FC236}">
                <a16:creationId xmlns:a16="http://schemas.microsoft.com/office/drawing/2014/main" id="{8003D185-BD0A-613A-A8B5-21F4A1E4F0E7}"/>
              </a:ext>
            </a:extLst>
          </p:cNvPr>
          <p:cNvSpPr>
            <a:spLocks noGrp="1" noChangeArrowheads="1"/>
          </p:cNvSpPr>
          <p:nvPr>
            <p:ph sz="quarter" idx="35"/>
          </p:nvPr>
        </p:nvSpPr>
        <p:spPr bwMode="auto">
          <a:xfrm>
            <a:off x="807038" y="2465539"/>
            <a:ext cx="3774587" cy="372375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lvl="0" indent="0" eaLnBrk="0" fontAlgn="base" hangingPunct="0">
              <a:spcBef>
                <a:spcPct val="0"/>
              </a:spcBef>
              <a:spcAft>
                <a:spcPts val="600"/>
              </a:spcAft>
              <a:buClrTx/>
              <a:buFontTx/>
              <a:buChar char="•"/>
            </a:pPr>
            <a:r>
              <a:rPr lang="en-US" dirty="0"/>
              <a:t>We identified the countries with the highest population density and the countries with the largest populations worldwide. We also analyzed population changes across continents over the years and found that Africa experienced the greatest growth among them all.</a:t>
            </a:r>
            <a:endParaRPr kumimoji="0" lang="en-US" altLang="en-US" i="0" u="none" strike="noStrike" cap="none" normalizeH="0" baseline="0" dirty="0">
              <a:ln>
                <a:noFill/>
              </a:ln>
              <a:effectLst/>
            </a:endParaRPr>
          </a:p>
        </p:txBody>
      </p:sp>
      <p:pic>
        <p:nvPicPr>
          <p:cNvPr id="6" name="Picture 5">
            <a:extLst>
              <a:ext uri="{FF2B5EF4-FFF2-40B4-BE49-F238E27FC236}">
                <a16:creationId xmlns:a16="http://schemas.microsoft.com/office/drawing/2014/main" id="{B3315FE6-93E1-4A32-CBFA-20F4C00EF2C7}"/>
              </a:ext>
            </a:extLst>
          </p:cNvPr>
          <p:cNvPicPr>
            <a:picLocks noChangeAspect="1"/>
          </p:cNvPicPr>
          <p:nvPr/>
        </p:nvPicPr>
        <p:blipFill>
          <a:blip r:embed="rId3"/>
          <a:srcRect t="2615" r="2" b="2280"/>
          <a:stretch>
            <a:fillRect/>
          </a:stretch>
        </p:blipFill>
        <p:spPr>
          <a:xfrm>
            <a:off x="4927600" y="2465539"/>
            <a:ext cx="6315069" cy="3723753"/>
          </a:xfrm>
          <a:prstGeom prst="rect">
            <a:avLst/>
          </a:prstGeom>
          <a:noFill/>
        </p:spPr>
      </p:pic>
      <p:sp>
        <p:nvSpPr>
          <p:cNvPr id="3" name="Slide Number Placeholder 2">
            <a:extLst>
              <a:ext uri="{FF2B5EF4-FFF2-40B4-BE49-F238E27FC236}">
                <a16:creationId xmlns:a16="http://schemas.microsoft.com/office/drawing/2014/main" id="{7D2A5A86-CCBE-E54F-387A-BE05AE20242B}"/>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9</a:t>
            </a:fld>
            <a:endParaRPr lang="en-US"/>
          </a:p>
        </p:txBody>
      </p:sp>
    </p:spTree>
    <p:extLst>
      <p:ext uri="{BB962C8B-B14F-4D97-AF65-F5344CB8AC3E}">
        <p14:creationId xmlns:p14="http://schemas.microsoft.com/office/powerpoint/2010/main" val="3927797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A5B6D-E8BA-6485-CB28-3D8023723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1A395-CDC6-76E8-C525-EC84DB995F75}"/>
              </a:ext>
            </a:extLst>
          </p:cNvPr>
          <p:cNvSpPr>
            <a:spLocks noGrp="1"/>
          </p:cNvSpPr>
          <p:nvPr>
            <p:ph type="title"/>
          </p:nvPr>
        </p:nvSpPr>
        <p:spPr>
          <a:xfrm>
            <a:off x="3305669" y="113097"/>
            <a:ext cx="7420819" cy="1656304"/>
          </a:xfrm>
        </p:spPr>
        <p:txBody>
          <a:bodyPr/>
          <a:lstStyle/>
          <a:p>
            <a:r>
              <a:rPr lang="en-US" dirty="0"/>
              <a:t>modeling</a:t>
            </a:r>
          </a:p>
        </p:txBody>
      </p:sp>
      <p:sp>
        <p:nvSpPr>
          <p:cNvPr id="3" name="Slide Number Placeholder 2">
            <a:extLst>
              <a:ext uri="{FF2B5EF4-FFF2-40B4-BE49-F238E27FC236}">
                <a16:creationId xmlns:a16="http://schemas.microsoft.com/office/drawing/2014/main" id="{31FC0DCB-9776-1A69-9EEF-639BA19E33A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10</a:t>
            </a:fld>
            <a:endParaRPr lang="en-US" dirty="0"/>
          </a:p>
        </p:txBody>
      </p:sp>
      <p:sp>
        <p:nvSpPr>
          <p:cNvPr id="5" name="Rectangle 1">
            <a:extLst>
              <a:ext uri="{FF2B5EF4-FFF2-40B4-BE49-F238E27FC236}">
                <a16:creationId xmlns:a16="http://schemas.microsoft.com/office/drawing/2014/main" id="{55BA0B50-288E-3ED2-2F40-36EA0A105030}"/>
              </a:ext>
            </a:extLst>
          </p:cNvPr>
          <p:cNvSpPr>
            <a:spLocks noGrp="1" noChangeArrowheads="1"/>
          </p:cNvSpPr>
          <p:nvPr>
            <p:ph sz="quarter" idx="31"/>
          </p:nvPr>
        </p:nvSpPr>
        <p:spPr bwMode="auto">
          <a:xfrm>
            <a:off x="3305669" y="2265360"/>
            <a:ext cx="714651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effectLst/>
                <a:latin typeface="Arial" panose="020B0604020202020204" pitchFamily="34" charset="0"/>
              </a:rPr>
              <a:t>Built </a:t>
            </a:r>
            <a:r>
              <a:rPr lang="en-US" altLang="en-US" dirty="0">
                <a:latin typeface="Arial" panose="020B0604020202020204" pitchFamily="34" charset="0"/>
              </a:rPr>
              <a:t>linear regression </a:t>
            </a:r>
            <a:r>
              <a:rPr kumimoji="0" lang="en-US" altLang="en-US" i="0" u="none" strike="noStrike" cap="none" normalizeH="0" baseline="0" dirty="0">
                <a:ln>
                  <a:noFill/>
                </a:ln>
                <a:effectLst/>
                <a:latin typeface="Arial" panose="020B0604020202020204" pitchFamily="34" charset="0"/>
              </a:rPr>
              <a:t>model using lagged population values (</a:t>
            </a:r>
            <a:r>
              <a:rPr kumimoji="0" lang="en-US" altLang="en-US" i="0" u="none" strike="noStrike" cap="none" normalizeH="0" baseline="0" dirty="0">
                <a:ln>
                  <a:noFill/>
                </a:ln>
                <a:effectLst/>
                <a:latin typeface="Arial Unicode MS"/>
              </a:rPr>
              <a:t>Pop_lag1</a:t>
            </a:r>
            <a:r>
              <a:rPr kumimoji="0" lang="en-US" altLang="en-US" i="0" u="none" strike="noStrike" cap="none" normalizeH="0" baseline="0" dirty="0">
                <a:ln>
                  <a:noFill/>
                </a:ln>
                <a:effectLst/>
              </a:rPr>
              <a:t>) and growth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effectLst/>
                <a:latin typeface="Arial" panose="020B0604020202020204" pitchFamily="34" charset="0"/>
              </a:rPr>
              <a:t>Trained on historical data (≤ 2015) and validated on recent years (≥ 2020) to assess accuracy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effectLst/>
                <a:latin typeface="Arial" panose="020B0604020202020204" pitchFamily="34" charset="0"/>
              </a:rPr>
              <a:t>Evaluated performance using metrics such as R², MAE, and MAPE.</a:t>
            </a:r>
          </a:p>
        </p:txBody>
      </p:sp>
      <p:sp>
        <p:nvSpPr>
          <p:cNvPr id="4" name="Rectangle 1">
            <a:extLst>
              <a:ext uri="{FF2B5EF4-FFF2-40B4-BE49-F238E27FC236}">
                <a16:creationId xmlns:a16="http://schemas.microsoft.com/office/drawing/2014/main" id="{6F197B6A-5CD4-36DC-204A-025228F028A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Built a linear regression model using lagged population values (</a:t>
            </a:r>
            <a:r>
              <a:rPr kumimoji="0" lang="en-US" altLang="en-US" sz="1800" b="0" i="1" u="none" strike="noStrike" cap="none" normalizeH="0" baseline="0">
                <a:ln>
                  <a:noFill/>
                </a:ln>
                <a:solidFill>
                  <a:schemeClr val="tx1"/>
                </a:solidFill>
                <a:effectLst/>
                <a:latin typeface="Arial" panose="020B0604020202020204" pitchFamily="34" charset="0"/>
              </a:rPr>
              <a:t>Pop_lag1</a:t>
            </a:r>
            <a:r>
              <a:rPr kumimoji="0" lang="en-US" altLang="en-US" sz="1800" b="0" i="0" u="none" strike="noStrike" cap="none" normalizeH="0" baseline="0">
                <a:ln>
                  <a:noFill/>
                </a:ln>
                <a:solidFill>
                  <a:schemeClr val="tx1"/>
                </a:solidFill>
                <a:effectLst/>
                <a:latin typeface="Arial" panose="020B0604020202020204" pitchFamily="34" charset="0"/>
              </a:rPr>
              <a:t>) and growth-related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Trained the model on historical data (≤ 2015) and validated it on recent years (≥ 2020) to assess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Evaluated performance using metrics such as R², MAE, and MAPE.</a:t>
            </a:r>
          </a:p>
        </p:txBody>
      </p:sp>
    </p:spTree>
    <p:extLst>
      <p:ext uri="{BB962C8B-B14F-4D97-AF65-F5344CB8AC3E}">
        <p14:creationId xmlns:p14="http://schemas.microsoft.com/office/powerpoint/2010/main" val="2592743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7B3CF-EBD3-6346-2796-7E6428A67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B7A64-8E91-6E73-D30C-474199078EC3}"/>
              </a:ext>
            </a:extLst>
          </p:cNvPr>
          <p:cNvSpPr>
            <a:spLocks noGrp="1"/>
          </p:cNvSpPr>
          <p:nvPr>
            <p:ph type="title"/>
          </p:nvPr>
        </p:nvSpPr>
        <p:spPr>
          <a:xfrm>
            <a:off x="741680" y="430482"/>
            <a:ext cx="10500989" cy="1327464"/>
          </a:xfrm>
        </p:spPr>
        <p:txBody>
          <a:bodyPr anchor="b">
            <a:normAutofit/>
          </a:bodyPr>
          <a:lstStyle/>
          <a:p>
            <a:r>
              <a:rPr lang="en-US" dirty="0"/>
              <a:t>results</a:t>
            </a:r>
          </a:p>
        </p:txBody>
      </p:sp>
      <p:sp>
        <p:nvSpPr>
          <p:cNvPr id="5" name="Rectangle 1">
            <a:extLst>
              <a:ext uri="{FF2B5EF4-FFF2-40B4-BE49-F238E27FC236}">
                <a16:creationId xmlns:a16="http://schemas.microsoft.com/office/drawing/2014/main" id="{391E9E47-D651-FAA1-17E7-CE994183DAF8}"/>
              </a:ext>
            </a:extLst>
          </p:cNvPr>
          <p:cNvSpPr>
            <a:spLocks noGrp="1" noChangeArrowheads="1"/>
          </p:cNvSpPr>
          <p:nvPr>
            <p:ph sz="quarter" idx="35"/>
          </p:nvPr>
        </p:nvSpPr>
        <p:spPr bwMode="auto">
          <a:xfrm>
            <a:off x="807038" y="2465539"/>
            <a:ext cx="3774587" cy="372375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lvl="0" indent="0" eaLnBrk="0" fontAlgn="base" hangingPunct="0">
              <a:lnSpc>
                <a:spcPct val="100000"/>
              </a:lnSpc>
              <a:spcBef>
                <a:spcPct val="0"/>
              </a:spcBef>
              <a:spcAft>
                <a:spcPct val="0"/>
              </a:spcAft>
              <a:buClrTx/>
              <a:buFontTx/>
              <a:buChar char="•"/>
            </a:pPr>
            <a:r>
              <a:rPr lang="en-US" dirty="0"/>
              <a:t>The best performing model for this dataset was the linear regression model.</a:t>
            </a:r>
            <a:endParaRPr kumimoji="0" lang="en-US" altLang="en-US" i="0" u="none" strike="noStrike" cap="none" normalizeH="0" baseline="0" dirty="0">
              <a:ln>
                <a:noFill/>
              </a:ln>
              <a:effectLst/>
            </a:endParaRPr>
          </a:p>
        </p:txBody>
      </p:sp>
      <p:sp>
        <p:nvSpPr>
          <p:cNvPr id="3" name="Slide Number Placeholder 2">
            <a:extLst>
              <a:ext uri="{FF2B5EF4-FFF2-40B4-BE49-F238E27FC236}">
                <a16:creationId xmlns:a16="http://schemas.microsoft.com/office/drawing/2014/main" id="{A5955587-42CB-813D-A195-ACEC53C7E0AC}"/>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11</a:t>
            </a:fld>
            <a:endParaRPr lang="en-US"/>
          </a:p>
        </p:txBody>
      </p:sp>
      <p:pic>
        <p:nvPicPr>
          <p:cNvPr id="4" name="Picture 3">
            <a:extLst>
              <a:ext uri="{FF2B5EF4-FFF2-40B4-BE49-F238E27FC236}">
                <a16:creationId xmlns:a16="http://schemas.microsoft.com/office/drawing/2014/main" id="{DE799CE9-489C-6697-49BF-11268440A618}"/>
              </a:ext>
            </a:extLst>
          </p:cNvPr>
          <p:cNvPicPr>
            <a:picLocks noChangeAspect="1"/>
          </p:cNvPicPr>
          <p:nvPr/>
        </p:nvPicPr>
        <p:blipFill>
          <a:blip r:embed="rId3"/>
          <a:stretch>
            <a:fillRect/>
          </a:stretch>
        </p:blipFill>
        <p:spPr>
          <a:xfrm>
            <a:off x="5559357" y="2158947"/>
            <a:ext cx="5683312" cy="4249813"/>
          </a:xfrm>
          <a:prstGeom prst="rect">
            <a:avLst/>
          </a:prstGeom>
        </p:spPr>
      </p:pic>
    </p:spTree>
    <p:extLst>
      <p:ext uri="{BB962C8B-B14F-4D97-AF65-F5344CB8AC3E}">
        <p14:creationId xmlns:p14="http://schemas.microsoft.com/office/powerpoint/2010/main" val="2768100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78000">
              <a:schemeClr val="accent6">
                <a:lumMod val="50000"/>
              </a:schemeClr>
            </a:gs>
            <a:gs pos="35040">
              <a:srgbClr val="020B11"/>
            </a:gs>
            <a:gs pos="11979">
              <a:schemeClr val="accent4">
                <a:lumMod val="50000"/>
              </a:schemeClr>
            </a:gs>
            <a:gs pos="0">
              <a:schemeClr val="accent4"/>
            </a:gs>
            <a:gs pos="99000">
              <a:schemeClr val="tx2">
                <a:lumMod val="50000"/>
              </a:schemeClr>
            </a:gs>
          </a:gsLst>
          <a:lin ang="7800000" scaled="0"/>
        </a:gradFill>
        <a:effectLst/>
      </p:bgPr>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CE1ABEC8-43FD-4F21-A7D2-70200D86263C}"/>
              </a:ext>
            </a:extLst>
          </p:cNvPr>
          <p:cNvSpPr>
            <a:spLocks noGrp="1"/>
          </p:cNvSpPr>
          <p:nvPr>
            <p:ph type="title"/>
          </p:nvPr>
        </p:nvSpPr>
        <p:spPr>
          <a:xfrm>
            <a:off x="835831" y="173735"/>
            <a:ext cx="4409514" cy="2203704"/>
          </a:xfrm>
        </p:spPr>
        <p:txBody>
          <a:bodyPr/>
          <a:lstStyle/>
          <a:p>
            <a:r>
              <a:rPr lang="en-US" dirty="0"/>
              <a:t>THANK YOU</a:t>
            </a:r>
          </a:p>
        </p:txBody>
      </p:sp>
    </p:spTree>
    <p:extLst>
      <p:ext uri="{BB962C8B-B14F-4D97-AF65-F5344CB8AC3E}">
        <p14:creationId xmlns:p14="http://schemas.microsoft.com/office/powerpoint/2010/main" val="2395464980"/>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{4C989F72-6CA2-49E1-8BD3-BE95A19FFE26}TFe8699e8e-689b-4d7e-abcf-e888fd749829db3118dc_win32-d573b439b56f</Template>
  <TotalTime>431</TotalTime>
  <Words>305</Words>
  <Application>Microsoft Office PowerPoint</Application>
  <PresentationFormat>Widescreen</PresentationFormat>
  <Paragraphs>63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Nova</vt:lpstr>
      <vt:lpstr>Arial Unicode MS</vt:lpstr>
      <vt:lpstr>Biome</vt:lpstr>
      <vt:lpstr>Calibri</vt:lpstr>
      <vt:lpstr>Custom</vt:lpstr>
      <vt:lpstr>world</vt:lpstr>
      <vt:lpstr>Agenda</vt:lpstr>
      <vt:lpstr>Dataset information</vt:lpstr>
      <vt:lpstr>PowerPoint Presentation</vt:lpstr>
      <vt:lpstr>Techquices </vt:lpstr>
      <vt:lpstr>Insights</vt:lpstr>
      <vt:lpstr>Insights</vt:lpstr>
      <vt:lpstr>PowerPoint Presentation</vt:lpstr>
      <vt:lpstr>Analysis Insights</vt:lpstr>
      <vt:lpstr>modeling</vt:lpstr>
      <vt:lpstr>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Salsabel Ghonem</dc:creator>
  <cp:lastModifiedBy>Salsabel Ghonem</cp:lastModifiedBy>
  <cp:revision>7</cp:revision>
  <dcterms:created xsi:type="dcterms:W3CDTF">2025-10-16T08:13:21Z</dcterms:created>
  <dcterms:modified xsi:type="dcterms:W3CDTF">2025-10-26T12:37:46Z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